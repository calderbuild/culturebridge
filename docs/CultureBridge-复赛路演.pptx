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2026 第四届「文创上海」创新创业大赛   ·   数字文化出海+ 赛道（临港新片区）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CultureBridge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4015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AI 文化出海顾问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160520"/>
            <a:ext cx="1005840" cy="4572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708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语言和声音已经出海了，该轮到文化了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项目 19  ·  项目负责人  罗林   ·   已上线演示  culturebridge-dwoy.onrender.com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痛点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中国文化出海的第三道障碍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文化译错，丢的不只是完播率，是中华文化在海外用户心里的样子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1226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A9E7A"/>
                </a:solidFill>
                <a:latin typeface="PingFang SC"/>
                <a:ea typeface="PingFang SC"/>
                <a:cs typeface="PingFang SC"/>
              </a:rPr>
              <a:t>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4884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字幕、文本翻译：GhostCut 等 AI 字幕，日处理 10 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3055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5A9E7A"/>
                </a:solidFill>
                <a:latin typeface="PingFang SC"/>
                <a:ea typeface="PingFang SC"/>
                <a:cs typeface="PingFang SC"/>
              </a:rPr>
              <a:t>✓ 已成熟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34056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A9E7A"/>
                </a:solidFill>
                <a:latin typeface="PingFang SC"/>
                <a:ea typeface="PingFang SC"/>
                <a:cs typeface="PingFang SC"/>
              </a:rPr>
              <a:t>声音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16936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AI 配音、口型：已有成熟的配音出海方案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9864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5A9E7A"/>
                </a:solidFill>
                <a:latin typeface="PingFang SC"/>
                <a:ea typeface="PingFang SC"/>
                <a:cs typeface="PingFang SC"/>
              </a:rPr>
              <a:t>✓ 已成熟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02151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905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文化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85031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典故、潜台词、语境，现有方案：空白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666744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→ 本项目切入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文化障碍不是翻译水平问题，是翻译范式问题：把「文化负载词」当普通词来翻。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28032"/>
            <a:ext cx="2553462" cy="141732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9560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臣妾做不到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358384"/>
            <a:ext cx="226085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44E4E"/>
                </a:solidFill>
                <a:latin typeface="PingFang SC"/>
                <a:ea typeface="PingFang SC"/>
                <a:cs typeface="PingFang SC"/>
              </a:rPr>
              <a:t>"I, your servant, cannot do it"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58704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海外观众一头雾水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0430" y="4828032"/>
            <a:ext cx="2553462" cy="141732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6734" y="49560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渡劫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6734" y="5358384"/>
            <a:ext cx="226085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44E4E"/>
                </a:solidFill>
                <a:latin typeface="PingFang SC"/>
                <a:ea typeface="PingFang SC"/>
                <a:cs typeface="PingFang SC"/>
              </a:rPr>
              <a:t>"passing through tribulation"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6734" y="58704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字面对，失去「逆天改命」的重量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5060" y="4828032"/>
            <a:ext cx="2553462" cy="141732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1364" y="49560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江湖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1364" y="5358384"/>
            <a:ext cx="226085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44E4E"/>
                </a:solidFill>
                <a:latin typeface="PingFang SC"/>
                <a:ea typeface="PingFang SC"/>
                <a:cs typeface="PingFang SC"/>
              </a:rPr>
              <a:t>"rivers and lakes"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1364" y="58704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丢失中国人想象的灰色道义空间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9690" y="4828032"/>
            <a:ext cx="2553462" cy="141732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5994" y="49560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本宫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5994" y="5358384"/>
            <a:ext cx="226085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44E4E"/>
                </a:solidFill>
                <a:latin typeface="PingFang SC"/>
                <a:ea typeface="PingFang SC"/>
                <a:cs typeface="PingFang SC"/>
              </a:rPr>
              <a:t>"I, the palace"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5994" y="5870448"/>
            <a:ext cx="226085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没有等级感，还制造笑点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解决方案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把翻译单位，从「句子」提升到「文化概念」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输入中国文化文本（网文 / 网剧 / 网游 / 动漫），输出一份可签字放行的「六件套」审计交付物。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2C2618"/>
          </a:solidFill>
          <a:ln w="1778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48143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文化适配翻译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5264"/>
            <a:ext cx="48143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不是直译，是翻译文化：保留等级 / 语境 / 潜台词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28600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2C2618"/>
          </a:solidFill>
          <a:ln w="1778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0236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0236" y="2852928"/>
            <a:ext cx="48143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翻译决策报告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236" y="3255264"/>
            <a:ext cx="48143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每个术语为什么这么翻、否掉了什么、依据哪条，可追溯可审计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配套四件（同一次处理产出）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06240"/>
            <a:ext cx="2553462" cy="13716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07408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文化风险扫描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029200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宗教/政治/性别敏感预警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0430" y="4206240"/>
            <a:ext cx="2553462" cy="13716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5022" y="4407408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改编建议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5022" y="5029200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哪些段落建议本地化重写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060" y="4206240"/>
            <a:ext cx="2553462" cy="13716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9652" y="4407408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文化注释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9652" y="5029200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给海外读者的背景说明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9690" y="4206240"/>
            <a:ext cx="2553462" cy="13716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4282" y="4407408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多平台推广素材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5029200"/>
            <a:ext cx="2224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各平台标题/描述/hashtag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一份中国文化内容，进来是拍脑袋，出去是有报告、有依据、可追溯的合规交付。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产品 ·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6 Agent Pipeline，产品已上线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323" y="1965960"/>
            <a:ext cx="1572768" cy="102412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323" y="2084831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A0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323" y="2386584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内容创作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323" y="2688336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可选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3091" y="2276856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979" y="1965960"/>
            <a:ext cx="1572768" cy="102412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9979" y="2084831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9979" y="2386584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文化扫描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9979" y="2688336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识别负载词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2747" y="2276856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9635" y="1965960"/>
            <a:ext cx="1572768" cy="102412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778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9635" y="2084831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9635" y="2386584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知识库匹配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9635" y="2688336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映射 · 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2403" y="2276856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9291" y="1965960"/>
            <a:ext cx="1572768" cy="102412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778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9291" y="2084831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9291" y="2386584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适配翻译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9291" y="2688336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术语一致性锁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2059" y="2276856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8947" y="1965960"/>
            <a:ext cx="1572768" cy="102412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8947" y="2084831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8947" y="2386584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审校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8947" y="2688336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回译验证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1715" y="2276856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8603" y="1965960"/>
            <a:ext cx="1572768" cy="1024128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8603" y="2084831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A5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8603" y="2386584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终稿 + 素材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8603" y="2688336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多平台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2186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DeepSeek 做中文理解与审校（成本低），Claude 做多语言输出（质量高），OpenRouter 统一调用，带降级容错。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794760"/>
            <a:ext cx="10817352" cy="1645920"/>
          </a:xfrm>
          <a:prstGeom prst="roundRect">
            <a:avLst>
              <a:gd name="adj" fmla="val 6000"/>
            </a:avLst>
          </a:prstGeom>
          <a:solidFill>
            <a:srgbClr val="2C2618"/>
          </a:solidFill>
          <a:ln w="1905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977639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▶  现场播放 Demo 视频（30–40 秒 · 本地播放）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宫廷短剧走一遍 pipeline：左侧原文高亮，右侧适配翻译并排机器直译。「臣妾」机器翻 your servant，我们翻 Your humble consort。悬停任意文化词，看选用译法 / 被否译法 / 知识库依据。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20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译文、注释、决策报告、六件套均为实时 pipeline 真数据 · 无状态处理，不留存客户内容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这不是 PPT 项目：一个能实时跑真数据的上线产品。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核心壁垒 ·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壁垒不是 90 条，是人工纠错方法论 + 数据飞轮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数量谁都能堆，能持续把库扩正确、跨题材复用、嵌进客户审校环节，才是护城河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524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机器会怎么翻错，我们怎么纠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臣妾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E4E"/>
                </a:solidFill>
                <a:latin typeface="PingFang SC"/>
                <a:ea typeface="PingFang SC"/>
                <a:cs typeface="PingFang SC"/>
              </a:rPr>
              <a:t>✗  机器直译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9300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"I, your servant"：丢等级、丢朝代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5A9E7A"/>
                </a:solidFill>
                <a:latin typeface="PingFang SC"/>
                <a:ea typeface="PingFang SC"/>
                <a:cs typeface="PingFang SC"/>
              </a:rPr>
              <a:t>✓  人工纠正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3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"Your humble consort"：保留等级+性别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617720"/>
            <a:ext cx="4754880" cy="18288"/>
          </a:xfrm>
          <a:prstGeom prst="rect">
            <a:avLst/>
          </a:prstGeom>
          <a:solidFill>
            <a:srgbClr val="35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3659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原则：等级+性别+朝代三层，至少保两层。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3036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「龙 ≠ dragon、渡劫 ≠ passing tribulation」，每条都是人工查证的纠错，不是让大模型自己生成（防 LLM 审 LLM 的自我幻觉）。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239512" cy="160020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3042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一条映射，跨形态复用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249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同一条「渡劫」，网文 / 网剧 / 网游 / 动漫都能用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46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竞品普遍单一垂类，我们一套库打通四形态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31920"/>
            <a:ext cx="5239512" cy="219456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965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数据飞轮（下一步要建）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5262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嵌进客户审校环节后，记录每次「采纳 / 拒绝 / 改写」的偏好，反哺知识库和模型，这是竞品拿不到的数据，因为他们不在客户工作流里。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4406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90</a:t>
            </a:r>
            <a:r>
              <a:rPr sz="1300" b="1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 条已入库  →  </a:t>
            </a:r>
            <a:r>
              <a:rPr sz="30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150+</a:t>
            </a:r>
            <a:r>
              <a:rPr sz="1300" b="1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 决赛前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差异化 · 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为什么通用翻译和「直接用 GPT」都做不了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108173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2395728"/>
                <a:gridCol w="2212848"/>
                <a:gridCol w="2212848"/>
                <a:gridCol w="2395728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6E6F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09728" marR="91440" marT="36576" marB="36576" anchor="ctr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010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CultureBridge</a:t>
                      </a:r>
                    </a:p>
                  </a:txBody>
                  <a:tcPr marL="109728" marR="91440" marT="36576" marB="36576" anchor="ctr">
                    <a:solidFill>
                      <a:srgbClr val="C9A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6E6F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网文读者工具
(Lexilit 等)</a:t>
                      </a:r>
                    </a:p>
                  </a:txBody>
                  <a:tcPr marL="109728" marR="91440" marT="36576" marB="36576" anchor="ctr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6E6F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直接用
GPT/Claude</a:t>
                      </a:r>
                    </a:p>
                  </a:txBody>
                  <a:tcPr marL="109728" marR="91440" marT="36576" marB="36576" anchor="ctr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6E6F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传统本地化公司</a:t>
                      </a:r>
                    </a:p>
                  </a:txBody>
                  <a:tcPr marL="109728" marR="91440" marT="36576" marB="36576" anchor="ctr">
                    <a:solidFill>
                      <a:srgbClr val="2A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9A96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目标客户</a:t>
                      </a:r>
                    </a:p>
                  </a:txBody>
                  <a:tcPr marL="109728" marR="91440" marT="36576" marB="36576" anchor="ctr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0C99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出海内容团队 B2B</a:t>
                      </a:r>
                    </a:p>
                  </a:txBody>
                  <a:tcPr marL="109728" marR="91440" marT="36576" marB="36576" anchor="ctr">
                    <a:solidFill>
                      <a:srgbClr val="2C26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读者/译者 C 端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任何人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大型项目制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9A96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交付物</a:t>
                      </a:r>
                    </a:p>
                  </a:txBody>
                  <a:tcPr marL="109728" marR="91440" marT="36576" marB="36576" anchor="ctr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0C99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六件套审计报告</a:t>
                      </a:r>
                    </a:p>
                  </a:txBody>
                  <a:tcPr marL="109728" marR="91440" marT="36576" marB="36576" anchor="ctr">
                    <a:solidFill>
                      <a:srgbClr val="2C26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翻译好的文本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C44E4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一段文字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项目交付文档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9A96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形态覆盖</a:t>
                      </a:r>
                    </a:p>
                  </a:txBody>
                  <a:tcPr marL="109728" marR="91440" marT="36576" marB="36576" anchor="ctr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0C99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网文/剧/游/漫通用</a:t>
                      </a:r>
                    </a:p>
                  </a:txBody>
                  <a:tcPr marL="109728" marR="91440" marT="36576" marB="36576" anchor="ctr">
                    <a:solidFill>
                      <a:srgbClr val="2C26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网文单一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任意但无结构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按项目定制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9A96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术语一致性</a:t>
                      </a:r>
                    </a:p>
                  </a:txBody>
                  <a:tcPr marL="109728" marR="91440" marT="36576" marB="36576" anchor="ctr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0C99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人工审核知识库</a:t>
                      </a:r>
                    </a:p>
                  </a:txBody>
                  <a:tcPr marL="109728" marR="91440" marT="36576" marB="36576" anchor="ctr">
                    <a:solidFill>
                      <a:srgbClr val="2C26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单本自动建库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C44E4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无，逐段漂移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人工术语表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9A96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风险/改编/推广</a:t>
                      </a:r>
                    </a:p>
                  </a:txBody>
                  <a:tcPr marL="109728" marR="91440" marT="36576" marB="36576" anchor="ctr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0C99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有（六件套）</a:t>
                      </a:r>
                    </a:p>
                  </a:txBody>
                  <a:tcPr marL="109728" marR="91440" marT="36576" marB="36576" anchor="ctr">
                    <a:solidFill>
                      <a:srgbClr val="2C26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C44E4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部分，另收费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9A96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定价/周期</a:t>
                      </a:r>
                    </a:p>
                  </a:txBody>
                  <a:tcPr marL="109728" marR="91440" marT="36576" marB="36576" anchor="ctr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0C99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SaaS，秒级</a:t>
                      </a:r>
                    </a:p>
                  </a:txBody>
                  <a:tcPr marL="109728" marR="91440" marT="36576" marB="36576" anchor="ctr">
                    <a:solidFill>
                      <a:srgbClr val="2C26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$5-15/月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C44E4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无交付物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A9AB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$0.1-0.2/词，周级</a:t>
                      </a:r>
                    </a:p>
                  </a:txBody>
                  <a:tcPr marL="109728" marR="91440" marT="36576" marB="36576" anchor="ctr"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68756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真正的对手在国际赛道：中国文化 IP 面对的是韩流、日漫、Netflix 等他国 IP 的全球心智之争，我们让中国 IP 不因翻译失真而掉队。
定位：不是更好的翻译工具，是审校环节的「文化合规决策层」；GhostCut / 配音出海是互补，不是竞争。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市场 ·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被教育过的半熟市场，正在高速起量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2026 海外短剧本土化内容占比从 21% 涨到 44%：市场用脚投票要文化适配，这正是最缺的一块。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3453384" cy="16002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29961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$20.58 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2996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2025 海外短剧内购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996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同比 +126% · 点点数据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7784" y="2286000"/>
            <a:ext cx="3453384" cy="16002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384" y="2487168"/>
            <a:ext cx="29961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2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384" y="3127248"/>
            <a:ext cx="2996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网文海外活跃用户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384" y="3474720"/>
            <a:ext cx="2996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200+ 国家 · 国家新闻出版署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9768" y="2286000"/>
            <a:ext cx="3453384" cy="160020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8368" y="2487168"/>
            <a:ext cx="29961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$204.55 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8368" y="3127248"/>
            <a:ext cx="2996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中国自研游戏海外收入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368" y="3474720"/>
            <a:ext cx="2996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2025 · 伽马数据 / 音数协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5276088" cy="1874519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793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可寻址市场（自下而上估算）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8172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TAM  出海内容营收数百亿美元级
SAM  文化本地化 / 审校支出（营收的个位数 %）
SOM  中小出海团队订阅 → 第一年 ¥309 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114800"/>
            <a:ext cx="5266944" cy="1874519"/>
          </a:xfrm>
          <a:prstGeom prst="roundRect">
            <a:avLst>
              <a:gd name="adj" fmla="val 6000"/>
            </a:avLst>
          </a:prstGeom>
          <a:solidFill>
            <a:srgbClr val="2C2618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2793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为什么是现在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68172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越往非洲、南美这些靠社交裂变传播的新兴市场走，一句误译放大越狠，文化适配从加分项变成生死线。配音出海客户下一个抱怨就是「意思没翻好」，正是我们的天然入口。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商业模式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订阅为主，毛利随人工前置投入摊薄递增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422904" cy="260604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742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2874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¥299 /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82112"/>
            <a:ext cx="28742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个人译者 / 独立创作者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767328"/>
            <a:ext cx="2874264" cy="18288"/>
          </a:xfrm>
          <a:prstGeom prst="rect">
            <a:avLst/>
          </a:prstGeom>
          <a:solidFill>
            <a:srgbClr val="35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77056"/>
            <a:ext cx="2874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每月 10 万字额度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基础知识库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024" y="1920240"/>
            <a:ext cx="3422904" cy="2606040"/>
          </a:xfrm>
          <a:prstGeom prst="roundRect">
            <a:avLst>
              <a:gd name="adj" fmla="val 6000"/>
            </a:avLst>
          </a:prstGeom>
          <a:solidFill>
            <a:srgbClr val="2C2618"/>
          </a:solidFill>
          <a:ln w="2032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71488" y="1783080"/>
            <a:ext cx="1051560" cy="384048"/>
          </a:xfrm>
          <a:prstGeom prst="roundRect">
            <a:avLst>
              <a:gd name="adj" fmla="val 35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1488" y="1837943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01020"/>
                </a:solidFill>
                <a:latin typeface="PingFang SC"/>
                <a:ea typeface="PingFang SC"/>
                <a:cs typeface="PingFang SC"/>
              </a:rPr>
              <a:t>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148840"/>
            <a:ext cx="28742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344" y="2615184"/>
            <a:ext cx="2874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¥1,999 /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344" y="3182112"/>
            <a:ext cx="28742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中小出海团队（网文/剧/游）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57344" y="3767328"/>
            <a:ext cx="2874264" cy="18288"/>
          </a:xfrm>
          <a:prstGeom prst="rect">
            <a:avLst/>
          </a:prstGeom>
          <a:solidFill>
            <a:srgbClr val="35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7344" y="3877056"/>
            <a:ext cx="2874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每月 100 万字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团队协作 +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0248" y="1920240"/>
            <a:ext cx="3422904" cy="260604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4568" y="2148840"/>
            <a:ext cx="28742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4568" y="2615184"/>
            <a:ext cx="2874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¥30,000+ / 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4568" y="3182112"/>
            <a:ext cx="28742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大厂出海部门 / 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54568" y="3767328"/>
            <a:ext cx="2874264" cy="18288"/>
          </a:xfrm>
          <a:prstGeom prst="rect">
            <a:avLst/>
          </a:prstGeom>
          <a:solidFill>
            <a:srgbClr val="35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4568" y="3877056"/>
            <a:ext cx="2874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无限字数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私有知识库 + 专属顾问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548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011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毛利结构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LLM 边际成本 ~¥0.08/千字；人工审核是前置 R&amp;D 投入，随规模摊薄，非每单 COGS。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1688" y="47548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49011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第一年收入（双情景）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5257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保守 ¥120 万</a:t>
            </a:r>
            <a:r>
              <a:rPr sz="1300" b="1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  /  </a:t>
            </a:r>
            <a:r>
              <a:rPr sz="15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目标 ¥309 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5" y="4754880"/>
            <a:ext cx="3465576" cy="1234440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49011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盈亏平衡点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5212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约 30-40 个 Team 版付费客户，即可覆盖精简团队 + 知识库固定成本，此后边际毛利高、可持续。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验证 ·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已上线真产品，正在换真实客户反馈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524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已经成立的事实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7091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产品已上线，公网可访问，评委刚亲眼看过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3 个官方场景（宫廷 / 修仙 / 仙侠游戏）跑通真实数据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六件套均由 pipeline 实时产出，非预置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90 条知识库全部人工审核入库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无状态处理，不留存客户内容（合规基线）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239512" cy="3977639"/>
          </a:xfrm>
          <a:prstGeom prst="roundRect">
            <a:avLst>
              <a:gd name="adj" fmla="val 6000"/>
            </a:avLst>
          </a:prstGeom>
          <a:solidFill>
            <a:srgbClr val="161628"/>
          </a:solidFill>
          <a:ln w="9525">
            <a:solidFill>
              <a:srgbClr val="353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客户验证漏斗（决赛前）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816351"/>
            <a:ext cx="109728" cy="50292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3-5 家出海团队真实内容试跑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593591"/>
            <a:ext cx="109728" cy="50292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566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已接触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[ 待填真实数字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370832"/>
            <a:ext cx="109728" cy="50292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试用中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[ 待填真实数字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5148072"/>
            <a:ext cx="109728" cy="50292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客户证言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[ 待填一句可引用原话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715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诚实展示动能，不编造签约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团队 ·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你们刚看到的产品，是一个大二学生独立做出来的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524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罗林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项目负责人 · 北京信息科技大学 大二在读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4617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GTM Engineer 实习经验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· 独立完成 6 Agent + 90 条库 + 上线，从 0 到 1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· [ founder-market-fit：补一句你和「中国文化被误读」的真实连接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5230368"/>
            <a:ext cx="4572000" cy="18288"/>
          </a:xfrm>
          <a:prstGeom prst="rect">
            <a:avLst/>
          </a:prstGeom>
          <a:solidFill>
            <a:srgbClr val="35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决赛前扩张：+ 文化顾问（古汉语/中国文化硕士）做二审 + 海外用户验证同学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里程碑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79191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5176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产品上线 · 90 条库 · 6 Agent 实时跑通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55847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28415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M1–M2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328415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3-5 家出海团队真实内容试跑 + 证言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32504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M3–M6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05072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API 接入，对接网文/短剧平台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09160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68172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M7–M9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681728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知识库 500+，数据飞轮上线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385816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35838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M10–M12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358384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付费团队 100+，年收入超 ¥300 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落地与所求 ·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愿意把项目落到临港，和出海生态长在一起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63040"/>
            <a:ext cx="82296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CultureBridge · AI 文化出海顾问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1E1E36"/>
          </a:solidFill>
          <a:ln w="1524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落地临港意愿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滴水湖 AI 创新港「2+4+5」产业体系已把数字文化列为重点培育赛道，我们做的正是数字文化出海的最后一公里。
愿意入驻科创社区、接受临港产业资源导入，和本地短剧 / 网文出海企业直接协同。
[ 待你确认真实落地意愿的边界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239512" cy="3291840"/>
          </a:xfrm>
          <a:prstGeom prst="roundRect">
            <a:avLst>
              <a:gd name="adj" fmla="val 6000"/>
            </a:avLst>
          </a:prstGeom>
          <a:solidFill>
            <a:srgbClr val="2C2618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我们的所求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862072"/>
            <a:ext cx="109728" cy="54864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资源对接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834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短剧 / 网文出海企业，做真实内容试跑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703320"/>
            <a:ext cx="109728" cy="54864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675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落地政策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67588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科创社区孵化 + 园区扶持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544568"/>
            <a:ext cx="109728" cy="54864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45171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天使轮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1713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¥300 万，用于团队 + 知识库 + 客户验证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把公司留在临港，把中国文化 IP 讲给世界。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为什么是 CultureBridge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不是把中国故事翻出去，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E0C992"/>
                </a:solidFill>
                <a:latin typeface="PingFang SC"/>
                <a:ea typeface="PingFang SC"/>
                <a:cs typeface="PingFang SC"/>
              </a:rPr>
              <a:t>是把中国故事，讲进海外用户心里。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语言、声音有人补上了。文化这道坎，我想用 CultureBridge 补上，这才是中国文化 IP 真正的「创造性转化」。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151376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41148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赛题逐词对应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133087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网文 / 网剧 / 网游出海 · AI · 创造性转化 · 全球吸引力的中国文化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809744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7731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已经落地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791455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不是 PPT，而是上线产品 · 6 Agent 实时跑通 · 90 条人工审核库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468112"/>
            <a:ext cx="128016" cy="457200"/>
          </a:xfrm>
          <a:prstGeom prst="roundRect">
            <a:avLst>
              <a:gd name="adj" fmla="val 4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431536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A96E"/>
                </a:solidFill>
                <a:latin typeface="PingFang SC"/>
                <a:ea typeface="PingFang SC"/>
                <a:cs typeface="PingFang SC"/>
              </a:rPr>
              <a:t>护城河在过程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49823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E6E6F2"/>
                </a:solidFill>
                <a:latin typeface="PingFang SC"/>
                <a:ea typeface="PingFang SC"/>
                <a:cs typeface="PingFang SC"/>
              </a:rPr>
              <a:t>人工纠错方法论 + 跨形态复用 + 嵌入审校的数据飞轮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6172200"/>
            <a:ext cx="10424160" cy="18288"/>
          </a:xfrm>
          <a:prstGeom prst="rect">
            <a:avLst/>
          </a:prstGeom>
          <a:solidFill>
            <a:srgbClr val="35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62910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A9AB8"/>
                </a:solidFill>
                <a:latin typeface="PingFang SC"/>
                <a:ea typeface="PingFang SC"/>
                <a:cs typeface="PingFang SC"/>
              </a:rPr>
              <a:t>罗林   ·   johnrobertdestiny@gmail.com   ·   culturebridge-dwoy.onrender.com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